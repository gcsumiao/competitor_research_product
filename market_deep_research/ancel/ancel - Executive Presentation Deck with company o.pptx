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F47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F4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ANCEL: Executive Due Diligence Report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Analysis of Operations, Market Positioning, and Risks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356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Consulting Report | 2024-2025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4788"/>
                </a:solidFill>
              </a:rPr>
              <a:t>Executive Summary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High-Volume Budget Manufacturer: ANCEL has sold over 10 million diagnostic devices globally over the past decade.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   Market Focus: Primarily target DIY car owners and small repair shops in the $30–$300 price range.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Polarized Performance Metrics: Strong product-level ratings (4.2-4.9/5) contrast sharply with poor brand-level service ratings (2.5-2.7/5).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Critical Operational Risk: Emerging backlash regarding software update policies (marketing of "lifetime free" vs. actual subscription fees).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Financial Transparency: Low. Private status with first UK regulatory filings not due until late 2025/2026.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788"/>
                </a:solidFill>
              </a:rPr>
              <a:t>Company Overview &amp; History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</a:rPr>
              <a:t>Founding &amp; Brand Launch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   2013: Mr. Hao begins selling diagnostic products based on consumer cost-saving needs.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   2016: Official ANCEL brand launch and release of the bestseller AD310 scanner.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</a:rPr>
              <a:t>Global Legal Footprint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   Registered as ANCEL LTD in the UK (Company #16088238).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   Operates via global warehouse networks supporting Amazon, eBay, and Alibaba platforms.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000000"/>
                </a:solidFill>
              </a:rPr>
              <a:t>Strategic Mission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   Positioned as a provider of affordable, high-quality maintenance tools with a focus on "ease of use" for non-technical users.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788"/>
                </a:solidFill>
              </a:rPr>
              <a:t>Business Model &amp; Revenue Streams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Direct-to-Consumer (D2C) E-Commerce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   Dominant presence on Amazon, eBay, AliExpress, TikTok, Temu, and Lazada.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B2B Distribution Network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   System implemented in 2020 to reach professional mechanics and international distributors.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Recurring Software Revenue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   Shift toward subscription-based updates ($9.99/month) for mid-tier Bluetooth and Android-based tools.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Hardware Diversification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   Expansion into smoke detectors, thermal imaging, and fuel injector cleaning (2024).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788"/>
                </a:solidFill>
              </a:rPr>
              <a:t>Product Portfolio: Consumer &amp; DIY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Category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Models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Price Range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Key Features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Entry-Level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VD500, AD310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$30–$80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Code reading, generic DTC lookup, vehicle powered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Mid-Range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V6, BD310, V5 BT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$80–$150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Bluetooth, smartphone app integration, live data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Specialized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BM700 (BMW/VW)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$100–$180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Brand-specific deep system scans, reset functions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114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0000"/>
                </a:solidFill>
              </a:rPr>
              <a:t>Note: Entry-level models typically provide "Lifetime Free" updates via simple USB connection.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788"/>
                </a:solidFill>
              </a:rPr>
              <a:t>Product Portfolio: Professional &amp; Heavy-Duty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ANCEL X7 / X7 HD Series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   Full multi-system access (Engine, ABS, SRS) with confirmed lifetime updates via Wi-Fi.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Heavy-Duty Truck Diagnostics (HD3400 Pro)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   Supports Cummins, Paccar, Caterpillar, Detroit, and Volvo at ~$499.99 price point.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Professional Maintenance Equipment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   Fuel injector cleaning and transmission fluid exchange machines launched in 2024.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788"/>
                </a:solidFill>
              </a:rPr>
              <a:t>Financial Overview &amp; Operational Scale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Unit Sales Volume: 10 Million+ units sold over the last decade (Avg 1M+ units/year).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Speculative Revenue Estimate: ~$100M - $110M annually based on product mix and volume.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Profitability Context: High-volume, low-margin hardware strategy; transitioning to high-margin recurring subscriptions.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Public Filing Gap: ANCEL LTD (UK) first accounts due November 30, 2025.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Funding Status: No recorded venture capital or external private equity investment (founder-funded).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788"/>
                </a:solidFill>
              </a:rPr>
              <a:t>Market Positioning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Target Segment: The "Fastest-Growing" DIY User Segment (6.45% CAGR expected).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Competitive Tier: Competes against BlueDriver and Veepeak in the budget tier.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Visibility Paradox: Despite high sales, ANCEL is often absent from "Top 10" professional market reports (e.g., SNS Insider) due to its focus on low-end retail vs. enterprise shop tools.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Channel Dominance: Exceptional performance in the Online Retail Channel (6.12% CAGR segment growth).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788"/>
                </a:solidFill>
              </a:rPr>
              <a:t>Competitive Landscape Comparison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Brand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Target Segment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Price Range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Core Weakness vs. ANCEL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Autel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Professional Workshops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$400–$4,000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Significantly higher entry price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Launch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Prosumer/Professional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$200–$2,500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Complex modular ecosystem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Innova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Mid-Tier DIY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$100–$500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Limited heavy-duty/commercial focus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ANCEL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Entry/Budget DIY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$30–$300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Service &amp; Update Policy consistency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788"/>
                </a:solidFill>
              </a:rPr>
              <a:t>SWOT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Strengths: Massive e-commerce scale, aggressive pricing, diverse SKU count.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Weaknesses: Customer service response times, inconsistent software update transparency.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Opportunities: Asia-Pacific region expansion (5.6% CAGR), fuel/maintenance hardware growth.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Threats: "Bricking" of older devices leading to brand damage, tighter OEM security lockouts.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788"/>
                </a:solidFill>
              </a:rPr>
              <a:t>Leadership &amp; Governance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Founder Profile: Mr. Hao (CEO/Founder)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   Primary strategist since 2013; transitioned brand from single-product seller to multi-category manufacturer.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</a:rPr>
              <a:t>Organizational Transparency: Low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   Minimal public information on additional executive leadership or board composition.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Operational Style: Private, founder-led; heavily focused on R&amp;D for "customer feedback-driven" features.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11837"/>
                </a:solidFill>
              </a:rPr>
              <a:t>Key Risk: Software Update Policy Backlash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Marketing Conflict: Marketing materials often highlight "Lifetime FREE Updates" across product lines.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Reality: Many mid-range Bluetooth/Android models transition to a $9.99/mo subscription after 2 years.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Impact: Generating significant negative sentiment on Trustpilot (Ratings of 2.5-2.7/5).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Operational Challenge: Supporting a legacy fleet of 10M+ devices with evolving vehicle software requirements is increasingly costly.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788"/>
                </a:solidFill>
              </a:rPr>
              <a:t>Industry &amp; Market Context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Vehicle Complexity: Premium cars now contain 100M+ lines of code, necessitating regular tool updates.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Emission Standards: Global push for tighter emission monitoring drives sales of basic OBDII scan tools.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Right-to-Repair: Regulatory shifts in US/EU may favor aftermarket tools like ANCEL over OEM proprietary systems.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Fastest Growing Markets: APAC (5.60% CAGR) and DIY (6.45% CAGR) are ANCEL's strongest sectors.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788"/>
                </a:solidFill>
              </a:rPr>
              <a:t>Investment Considerations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Growth Potential: High. Proven ability to capture budget market share and expand into B2B.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Valuation Headwinds: Lack of audited financials and executive team depth.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Key Metric to Monitor: Conversion rate of legacy hardware users to recurring subscription models.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Reputation Risk: Brand equity is fragile due to polarized customer service reviews.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788"/>
                </a:solidFill>
              </a:rPr>
              <a:t>Conclusion &amp; Strategic Outlook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ANCEL is a dominant "Budget King" with impressive operational scale but significant reputational risks.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Immediate priority should be clarifying software update policies to preserve brand trust.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Strategic shift toward professional maintenance equipment (2024 launches) provides a path to higher margins.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Wait for November 2025 UK filings for formal financial validation of current speculative growth trajectories.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</a:rPr>
              <a:t>End of Presentation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For questions, please contact the Valyu Research Team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Valyu Consulting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ANCEL - Executive Due Diligence Presentation</dc:title>
  <dc:subject>Automotive Diagnostic Tool Market Analysis</dc:subject>
  <dc:creator>Valyu Research</dc:creator>
  <cp:lastModifiedBy>Valyu Research</cp:lastModifiedBy>
  <cp:revision>1</cp:revision>
  <dcterms:created xsi:type="dcterms:W3CDTF">2026-02-10T19:49:24Z</dcterms:created>
  <dcterms:modified xsi:type="dcterms:W3CDTF">2026-02-10T19:49:24Z</dcterms:modified>
</cp:coreProperties>
</file>